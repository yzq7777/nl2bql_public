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67" r:id="rId2"/>
    <p:sldId id="265" r:id="rId3"/>
    <p:sldId id="261" r:id="rId4"/>
    <p:sldId id="260" r:id="rId5"/>
    <p:sldId id="268" r:id="rId6"/>
    <p:sldId id="272" r:id="rId7"/>
    <p:sldId id="274" r:id="rId8"/>
    <p:sldId id="271" r:id="rId9"/>
    <p:sldId id="295" r:id="rId10"/>
    <p:sldId id="273" r:id="rId11"/>
    <p:sldId id="270" r:id="rId12"/>
    <p:sldId id="284" r:id="rId13"/>
    <p:sldId id="279" r:id="rId14"/>
    <p:sldId id="269" r:id="rId15"/>
    <p:sldId id="280" r:id="rId16"/>
    <p:sldId id="275" r:id="rId17"/>
    <p:sldId id="277" r:id="rId18"/>
    <p:sldId id="276" r:id="rId19"/>
    <p:sldId id="278" r:id="rId20"/>
    <p:sldId id="281" r:id="rId21"/>
    <p:sldId id="282" r:id="rId22"/>
    <p:sldId id="283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58" r:id="rId33"/>
    <p:sldId id="294" r:id="rId34"/>
    <p:sldId id="262" r:id="rId35"/>
  </p:sldIdLst>
  <p:sldSz cx="12192000" cy="6858000"/>
  <p:notesSz cx="7104063" cy="10234613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80" autoAdjust="0"/>
    <p:restoredTop sz="95325" autoAdjust="0"/>
  </p:normalViewPr>
  <p:slideViewPr>
    <p:cSldViewPr snapToGrid="0" showGuides="1">
      <p:cViewPr varScale="1">
        <p:scale>
          <a:sx n="92" d="100"/>
          <a:sy n="92" d="100"/>
        </p:scale>
        <p:origin x="848" y="52"/>
      </p:cViewPr>
      <p:guideLst>
        <p:guide orient="horz" pos="2175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122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2026/2/2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2026/2/2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8.png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7.png"/><Relationship Id="rId4" Type="http://schemas.openxmlformats.org/officeDocument/2006/relationships/image" Target="../media/image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18.png"/><Relationship Id="rId4" Type="http://schemas.openxmlformats.org/officeDocument/2006/relationships/image" Target="../media/image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image" Target="../media/image22.png"/><Relationship Id="rId4" Type="http://schemas.openxmlformats.org/officeDocument/2006/relationships/image" Target="../media/image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image" Target="../media/image23.png"/><Relationship Id="rId4" Type="http://schemas.openxmlformats.org/officeDocument/2006/relationships/image" Target="../media/image4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4" Type="http://schemas.openxmlformats.org/officeDocument/2006/relationships/image" Target="../media/image4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4" Type="http://schemas.openxmlformats.org/officeDocument/2006/relationships/image" Target="../media/image4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2287352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err="1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BQLMatic</a:t>
            </a:r>
            <a:r>
              <a:rPr lang="zh-CN" altLang="en-US" sz="32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：自然语言驱动的</a:t>
            </a:r>
            <a:r>
              <a:rPr lang="en-US" altLang="zh-CN" sz="32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BQL</a:t>
            </a:r>
            <a:r>
              <a:rPr lang="zh-CN" altLang="en-US" sz="32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生成</a:t>
            </a:r>
            <a:endParaRPr lang="zh-CN" sz="3200" b="1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3992245"/>
            <a:ext cx="12192000" cy="19589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sz="2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团队名称：</a:t>
            </a:r>
            <a:r>
              <a:rPr lang="zh-CN" altLang="en-US" sz="2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从容应队</a:t>
            </a:r>
            <a:endParaRPr lang="zh-CN" sz="2000" b="1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algn="ctr">
              <a:lnSpc>
                <a:spcPct val="150000"/>
              </a:lnSpc>
            </a:pPr>
            <a:r>
              <a:rPr lang="zh-CN" sz="2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演讲人：</a:t>
            </a:r>
            <a:r>
              <a:rPr lang="zh-CN" altLang="en-US" sz="2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殷梓淇</a:t>
            </a:r>
            <a:endParaRPr lang="zh-CN" sz="2000" b="1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algn="ctr">
              <a:lnSpc>
                <a:spcPct val="150000"/>
              </a:lnSpc>
            </a:pPr>
            <a:r>
              <a:rPr lang="zh-CN" sz="2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单位</a:t>
            </a:r>
            <a:r>
              <a:rPr lang="en-US" altLang="zh-CN" sz="2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/</a:t>
            </a:r>
            <a:r>
              <a:rPr lang="zh-CN" altLang="en-US" sz="2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职务：吉林大学</a:t>
            </a:r>
            <a:r>
              <a:rPr lang="en-US" altLang="zh-CN" sz="2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</a:t>
            </a:r>
            <a:r>
              <a:rPr lang="zh-CN" altLang="en-US" sz="2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学生</a:t>
            </a:r>
            <a:endParaRPr lang="zh-CN" sz="2000" b="1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572104" y="221807"/>
            <a:ext cx="3505095" cy="6414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1 </a:t>
            </a:r>
            <a:r>
              <a:rPr lang="zh-CN" altLang="en-US" sz="2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项目背景</a:t>
            </a:r>
            <a:endParaRPr sz="2000" b="1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algn="l">
              <a:lnSpc>
                <a:spcPct val="150000"/>
              </a:lnSpc>
            </a:pPr>
            <a:r>
              <a:rPr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      1.1</a:t>
            </a:r>
            <a:r>
              <a:rPr lang="en-US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项目简介</a:t>
            </a:r>
            <a:endParaRPr lang="en-US" altLang="zh-CN" dirty="0">
              <a:solidFill>
                <a:schemeClr val="bg1"/>
              </a:solidFill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ea typeface="思源黑体 CN Normal" panose="020B0500000000000000" charset="-122"/>
              </a:rPr>
              <a:t>        </a:t>
            </a:r>
            <a:r>
              <a:rPr lang="en-US" altLang="zh-CN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1.2 BQL</a:t>
            </a:r>
            <a:r>
              <a:rPr lang="zh-CN" altLang="en-US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介绍</a:t>
            </a:r>
            <a:endParaRPr lang="en-US" altLang="zh-CN" dirty="0">
              <a:solidFill>
                <a:schemeClr val="bg1"/>
              </a:solidFill>
              <a:ea typeface="思源黑体 CN Normal" panose="020B05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      </a:t>
            </a:r>
            <a:r>
              <a:rPr lang="en-US" altLang="zh-CN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1.3 </a:t>
            </a:r>
            <a:r>
              <a:rPr lang="zh-CN" altLang="en-US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需求分析</a:t>
            </a:r>
            <a:endParaRPr lang="zh-CN" altLang="en-US" dirty="0">
              <a:solidFill>
                <a:schemeClr val="bg1"/>
              </a:solidFill>
              <a:ea typeface="思源黑体 CN Normal" panose="020B0500000000000000" charset="-122"/>
            </a:endParaRPr>
          </a:p>
          <a:p>
            <a:pPr algn="l">
              <a:lnSpc>
                <a:spcPct val="150000"/>
              </a:lnSpc>
            </a:pPr>
            <a:r>
              <a:rPr sz="2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</a:t>
            </a:r>
            <a:endParaRPr sz="2000" b="1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algn="l">
              <a:lnSpc>
                <a:spcPct val="150000"/>
              </a:lnSpc>
            </a:pPr>
            <a:r>
              <a:rPr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      2.1</a:t>
            </a:r>
            <a:r>
              <a:rPr lang="en-US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整体架构</a:t>
            </a:r>
            <a:endParaRPr lang="en-US" altLang="zh-CN" dirty="0">
              <a:solidFill>
                <a:schemeClr val="bg1"/>
              </a:solidFill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      </a:t>
            </a:r>
            <a:r>
              <a:rPr lang="en-US" altLang="zh-CN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2.2 </a:t>
            </a:r>
            <a:r>
              <a:rPr lang="zh-CN" altLang="en-US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核心功能模块</a:t>
            </a:r>
            <a:endParaRPr lang="en-US" altLang="zh-CN" dirty="0">
              <a:solidFill>
                <a:schemeClr val="bg1"/>
              </a:solidFill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            2.2.1 </a:t>
            </a:r>
            <a:r>
              <a:rPr lang="zh-CN" altLang="en-US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安全审查模块</a:t>
            </a:r>
            <a:endParaRPr lang="en-US" altLang="zh-CN" dirty="0">
              <a:solidFill>
                <a:schemeClr val="bg1"/>
              </a:solidFill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            2.2.2 </a:t>
            </a:r>
            <a:r>
              <a:rPr lang="zh-CN" altLang="en-US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检索模块</a:t>
            </a:r>
            <a:endParaRPr lang="en-US" altLang="zh-CN" dirty="0">
              <a:solidFill>
                <a:schemeClr val="bg1"/>
              </a:solidFill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            2.2.3 BQL</a:t>
            </a:r>
            <a:r>
              <a:rPr lang="zh-CN" altLang="en-US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生成模块</a:t>
            </a:r>
            <a:endParaRPr lang="en-US" altLang="zh-CN" dirty="0">
              <a:solidFill>
                <a:schemeClr val="bg1"/>
              </a:solidFill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            2.2.4 </a:t>
            </a:r>
            <a:r>
              <a:rPr lang="zh-CN" altLang="en-US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反馈修正模块</a:t>
            </a:r>
            <a:endParaRPr lang="en-US" altLang="zh-CN" dirty="0">
              <a:solidFill>
                <a:schemeClr val="bg1"/>
              </a:solidFill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      2.3</a:t>
            </a:r>
            <a:r>
              <a:rPr lang="zh-CN" altLang="en-US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</a:rPr>
              <a:t>用例展示</a:t>
            </a:r>
            <a:endParaRPr lang="en-US" altLang="zh-CN" dirty="0">
              <a:solidFill>
                <a:schemeClr val="bg1"/>
              </a:solidFill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3 </a:t>
            </a:r>
            <a:r>
              <a:rPr lang="zh-CN" altLang="en-US" sz="2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总结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3</a:t>
            </a:r>
            <a:r>
              <a:rPr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.1</a:t>
            </a:r>
            <a:r>
              <a:rPr lang="en-US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系统优势</a:t>
            </a:r>
            <a:endParaRPr lang="en-US" altLang="zh-CN" dirty="0">
              <a:solidFill>
                <a:schemeClr val="bg1"/>
              </a:solidFill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3.2</a:t>
            </a:r>
            <a:r>
              <a:rPr lang="zh-CN" altLang="en-US" dirty="0">
                <a:solidFill>
                  <a:schemeClr val="bg1"/>
                </a:solidFill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未来优化方向</a:t>
            </a:r>
            <a:endParaRPr b="1" dirty="0">
              <a:solidFill>
                <a:schemeClr val="bg1"/>
              </a:solidFill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3482143" y="2209800"/>
            <a:ext cx="5227713" cy="1721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8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1 </a:t>
            </a:r>
            <a:r>
              <a:rPr lang="en-US" altLang="zh-CN" sz="8000" b="1" dirty="0" err="1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项目背景</a:t>
            </a:r>
            <a:endParaRPr lang="zh-CN" altLang="en-US" sz="8000" b="1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3204845" y="63500"/>
            <a:ext cx="3711272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1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项目背景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-1.1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项目简介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028588A-2415-32CD-AD67-18725068CDE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57875" y="1787195"/>
            <a:ext cx="11476250" cy="4459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 dirty="0" err="1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BQLMatic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（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 Automatic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：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智造器）是一款基于大语言模型的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NL2BQL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工具，专注于将自然语言查询自动转化为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语句，为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UBML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低代码开发平台提供高效支持。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技术架构：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核心模块：大语言模型 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+ Prompt Engineering</a:t>
            </a: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用户交互：</a:t>
            </a:r>
            <a:r>
              <a:rPr lang="en-US" altLang="zh-CN" sz="2400" dirty="0" err="1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Gradio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核心功能：自然语言理解与解析，生成符合业务需求的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查询语句。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目标：降低开发门槛，提升业务效率。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价值：简化开发流程，为企业构建更灵活、更智能的低代码解决方案。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E92E1D-228F-D93F-5368-98F7D3F45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11A3672-7535-745A-A5F4-16C1358C209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204845" y="63500"/>
            <a:ext cx="3725700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1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项目背景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-1.2 BQL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介绍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DD3D97-FECF-D592-9353-DDBEC4B3C3D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78964" y="1602150"/>
            <a:ext cx="11639392" cy="4459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（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Business Query Language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）简介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定义：基于 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UBML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核心的特化 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SQL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语法，聚焦业务实体（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BE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）的查询与操作。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特点：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- T-SQL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兼容：语法类似 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T-SQL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，简单易用。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业务导向：操作目标为业务实体及其属性，而非传统数据库表和列。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核心价值：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简化查询逻辑及细节，降低开发难度。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-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为低代码开发提供高效支持。</a:t>
            </a:r>
          </a:p>
        </p:txBody>
      </p:sp>
    </p:spTree>
    <p:extLst>
      <p:ext uri="{BB962C8B-B14F-4D97-AF65-F5344CB8AC3E}">
        <p14:creationId xmlns:p14="http://schemas.microsoft.com/office/powerpoint/2010/main" val="359569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052657-A8DD-0074-001D-56B08FD0F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3C095F7-2FF9-23BC-A1D0-5EE39ED6488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204845" y="63500"/>
            <a:ext cx="3711272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1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项目背景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-1.3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需求分析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5E923C9-1DC5-80C9-E634-8661518B663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57874" y="1602313"/>
            <a:ext cx="11747439" cy="5013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当前自然语言生成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存在以下需求：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现有痛点：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技术门槛高：手动将自然语言转换为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，需要开发者具备较强的技术背景。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易错且耗时：复杂业务场景下，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语句书写容易出现错误，且耗时较多。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模型适配不足：大语言模型未针对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语法优化，生成结果准确率较低。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解决方案：</a:t>
            </a:r>
            <a:r>
              <a:rPr lang="en-US" altLang="zh-CN" sz="2400" dirty="0" err="1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BQLMatic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系统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简化开发：通过自动生成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语句，降低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UBML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平台的使用门槛。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</a:t>
            </a: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资源节省：无需进行模型微调，即可高效生成高质量的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语句。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生态赋能：为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UBML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平台提供更智能、更高效的低代码服务支持。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0439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2B6584-3DCD-C646-D328-013C2CFB2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93DEF1C-FDE7-57A9-5A12-ABD09A9E225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482143" y="2209800"/>
            <a:ext cx="5227713" cy="1721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8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8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</a:t>
            </a:r>
          </a:p>
        </p:txBody>
      </p:sp>
    </p:spTree>
    <p:extLst>
      <p:ext uri="{BB962C8B-B14F-4D97-AF65-F5344CB8AC3E}">
        <p14:creationId xmlns:p14="http://schemas.microsoft.com/office/powerpoint/2010/main" val="3602673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969A0C-2025-D67E-D5CC-9A9FD2619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C57789A-D16D-D616-60DA-938E0177371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204845" y="63500"/>
            <a:ext cx="3711272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-2.1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整体架构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49E7D8D-49C0-70E4-418E-E13EA1E403E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57875" y="1594248"/>
            <a:ext cx="11476250" cy="5013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 dirty="0" err="1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BQLMatic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（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 Automatic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：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智造器）共有四个业务模块。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安全审查模块：对用户输入进行敏感内容检测和安全逻辑校验，防止恶意输入和潜在风险（如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SQL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注入），以及过滤无效查询。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检索模块：通过特定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Prompt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引导模型对业务压缩实体结构进行高效的信息检索，返回正确的数据库信息。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- 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生成模块：利用大语言模型，通过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Prompt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设计结合表信息，生成及优化符合用户需求且语义准确的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语句。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反馈修正模块：接收用户的修改指导或数据库的异常信息，依据输入内容对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语句进行再次生成。</a:t>
            </a:r>
          </a:p>
        </p:txBody>
      </p:sp>
    </p:spTree>
    <p:extLst>
      <p:ext uri="{BB962C8B-B14F-4D97-AF65-F5344CB8AC3E}">
        <p14:creationId xmlns:p14="http://schemas.microsoft.com/office/powerpoint/2010/main" val="2010484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0839BB5-14E4-48D7-AFAE-A853DB1DA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13" y="290513"/>
            <a:ext cx="11153775" cy="627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146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853C67-C266-BA56-F89F-EE059B7DC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E6670A1-81E2-1212-1613-77C81BCF64E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204845" y="63500"/>
            <a:ext cx="3711272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-2.1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整体架构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8DA1819-6CA9-D908-8E41-D349BD46E7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70" y="644557"/>
            <a:ext cx="10774260" cy="599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954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A9BDF-5C28-C58F-2DFC-AE12EF020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F021806-271D-B50C-42A7-7FAEE646B25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818951" y="71889"/>
            <a:ext cx="6759671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-2.1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整体架构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-2.2.1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安全审查模块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204DF0-5DC8-41F2-66CC-DF8657BB694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57875" y="1451635"/>
            <a:ext cx="11476250" cy="5013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安全审查模块共有两个子模块：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正则过滤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作用：利用正则匹配技术，过滤具有修改指令的查询。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时机：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</a:t>
            </a: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大模型审核前：对用户的输入进行初步过滤判别。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返回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语句前：检查生成的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语句，确保数据安全。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大模型审核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作用：使用大模型评估用户查询意图是否存在风险以及是否有查询意义。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时机：用户的查询通过正则过滤后。</a:t>
            </a:r>
          </a:p>
        </p:txBody>
      </p:sp>
    </p:spTree>
    <p:extLst>
      <p:ext uri="{BB962C8B-B14F-4D97-AF65-F5344CB8AC3E}">
        <p14:creationId xmlns:p14="http://schemas.microsoft.com/office/powerpoint/2010/main" val="1051134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F92F98-531D-5897-5E29-CE8F991C4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4D50FCC-9543-726D-B0E5-CDEA4ACA9E8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818951" y="71889"/>
            <a:ext cx="6759671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-2.1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整体架构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-2.2.1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安全审查模块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44EC3C-E180-38BA-9435-E283B224713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57875" y="1703305"/>
            <a:ext cx="11476250" cy="4459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存在风险的查询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	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插入一个新的客户，名字叫张三，电话号码为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1234567890(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修改风险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	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删除所有数据库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(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修改风险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	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查询销售组织 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WHERE name = ’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销售一部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’ OR '1'='1' (SQL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注入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无意义查询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你好，你是谁？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今天天气怎么样？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- 12345</a:t>
            </a:r>
            <a:endParaRPr lang="zh-CN" altLang="en-US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7877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1A06E2-D6D4-0F2B-8C57-98DEFAD2D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2D91393-6CF6-AA22-1EF6-E9455560F05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818951" y="71889"/>
            <a:ext cx="6759671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-2.1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整体架构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-2.2.1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安全审查模块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7649B77-E79C-CB60-3891-A8FD61D224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044" y="243281"/>
            <a:ext cx="95879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38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A5949-8FE1-4758-2923-4CAFDE0AF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0AD4281-9D78-5618-93A4-B630F3A9614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818951" y="71889"/>
            <a:ext cx="6003567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-2.1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整体架构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-2.2.2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检索模块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6E3FFC-CD6A-2AFA-5B86-17AF1712353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57875" y="1451635"/>
            <a:ext cx="11476250" cy="4459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检索模块：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输入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 - 1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：业务压缩实体结构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(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数据库表信息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 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- 2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：用户查询语句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输出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数据库相关信息，如右图所示：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若未检索到相关信息，则返回对应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    的检索失败信息提示。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C6FE659-44A3-95FB-DE1E-D4802E8DA3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204" y="3349386"/>
            <a:ext cx="5159229" cy="310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851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EB76B9-FA17-7625-2727-DD43889EE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D51C352-5FAE-BD0C-B659-068B83DFB54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818951" y="71889"/>
            <a:ext cx="6003567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-2.1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整体架构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-2.2.2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检索模块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E33E97-8B1E-8DBD-52D4-311857FCE9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384" y="362417"/>
            <a:ext cx="111532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755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6F000D-5968-9A45-F105-F2B56CE5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4EDDB84-25EE-991C-1513-C8501AF7295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818951" y="71889"/>
            <a:ext cx="6633547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-2.1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整体架构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-2.2.3 BQL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生成模块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F08BC59-EEAF-3A69-8CBE-88B498B16F2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57875" y="1451635"/>
            <a:ext cx="11476250" cy="5013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生成模块共有两个子模块：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- 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生成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作用：结合用户查询及数据库相关信息，生成正确的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查询语句。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- 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优化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作用：针对初步生成的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查询语句，对其进行性能优化。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优化规则：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               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子查询语句是否可以优化为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LEFT JOIN</a:t>
            </a: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               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多个子查询语句是否需要调换查询顺序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               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- COUNT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函数内容简写，别名补充</a:t>
            </a:r>
          </a:p>
        </p:txBody>
      </p:sp>
    </p:spTree>
    <p:extLst>
      <p:ext uri="{BB962C8B-B14F-4D97-AF65-F5344CB8AC3E}">
        <p14:creationId xmlns:p14="http://schemas.microsoft.com/office/powerpoint/2010/main" val="1640169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840409-5C1D-8BD4-6619-7400D2B35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1EFD086-DB63-53DC-156D-033555C82F8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818951" y="71889"/>
            <a:ext cx="6759671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-2.1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整体架构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-2.2.3 BQL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生成模块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BE78CAD-54BD-7A05-E958-5C89CC1A6C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309" y="268448"/>
            <a:ext cx="9620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923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744B4E-ABD7-255C-02A7-C3817D80B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91A93A-0977-79DA-BC65-60D8AA5B4E9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818951" y="71889"/>
            <a:ext cx="6713569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-2.1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整体架构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-2.2.4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反馈修正模块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C58EFB-CF02-8BB8-AF5D-A27896B8D5E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57875" y="1686527"/>
            <a:ext cx="11476250" cy="3905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反馈修正模块：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输入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用户反馈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        OR</a:t>
            </a: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 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数据库异常信息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(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错误提示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输出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根据用户反馈或错误提示，重新生成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语句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64669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05A803-235A-B223-6296-0CC572AA1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08B38F9-EA95-1C95-FBD9-CCDBB71AD5E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818951" y="71889"/>
            <a:ext cx="6759671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-2.1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整体架构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-2.2.4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反馈修正模块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4879B87-E106-867F-AC49-DFCC191962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835" y="1516371"/>
            <a:ext cx="12192000" cy="399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158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6E33A-44E2-4612-A6FC-92589E66E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5584F25-4652-EBAB-7C05-B8A6821738C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225663" y="19678"/>
            <a:ext cx="6782626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-2.3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用例展示 </a:t>
            </a:r>
            <a:r>
              <a:rPr lang="en-US" altLang="zh-CN" sz="2400" b="1" dirty="0" err="1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Gradio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用户交互页面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E62E312-D197-CC46-8FE2-29037F083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455" y="891724"/>
            <a:ext cx="10746298" cy="596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035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4D1CC9-13F0-64C8-4C2C-B5E506771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1988D46-A33E-EF59-1DE9-EF71C24838D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225663" y="19678"/>
            <a:ext cx="5740674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-2.3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用例展示 正常查询用例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07DF607-E3CC-2EE2-73F0-2D2A755DF1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74" t="-20183" r="774" b="20183"/>
          <a:stretch/>
        </p:blipFill>
        <p:spPr>
          <a:xfrm>
            <a:off x="284688" y="-735781"/>
            <a:ext cx="11622623" cy="735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78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EB2F9B-D93A-5CF8-5ABE-6D5C2FF18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F73A08A-4C47-38F8-C322-B83AD5DE49F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225663" y="19678"/>
            <a:ext cx="6125395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-2.3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用例展示 带有风险的查询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65B1E55-B757-705C-AEE8-F70649658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28924"/>
            <a:ext cx="12192000" cy="453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989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FAE9C2-F341-6550-908D-A9DE87B82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BD0FE1A-73CF-2DE5-08C6-F6E8F8F14E8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225663" y="19678"/>
            <a:ext cx="5432898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-2.3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用例展示 无意义查询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63239C8-2989-D36E-AD1A-80AEF8FF1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43556"/>
            <a:ext cx="12192000" cy="460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423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3B3F06-1449-5BB4-054D-237EF200E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08433AF-08D6-752D-F52F-0D028702907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225663" y="19678"/>
            <a:ext cx="5649303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-2.3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用例展示 错误信息查询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847E9D3-A745-4C9A-3710-380A7206A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49014"/>
            <a:ext cx="12192000" cy="295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738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D1452-8AE2-6C26-5A43-F6EADB2E5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FD999F8-646C-21D6-A42B-1776283794B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225663" y="19678"/>
            <a:ext cx="6078908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-2.3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用例展示 优化前后对比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(1)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E22185-CB30-497B-8395-668B153AC67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79522" y="2828078"/>
            <a:ext cx="3990474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LEFT JOIN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优化：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通过表关联而非子查询方式，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提高查询效率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E8CBE0B-6E02-80EE-8194-8A945D595F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8110" y="1161323"/>
            <a:ext cx="6629060" cy="576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6131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FD1598-98B8-CF1F-1716-5EE6D5D2D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58D2BB2-969B-D772-8DE8-698F92B41B8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225663" y="19678"/>
            <a:ext cx="6078908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-2.3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用例展示 优化前后对比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(2)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A1BA7CE-8959-29CB-1C16-F50B81CB765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67780" y="1534577"/>
            <a:ext cx="1147625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多个子查询语句优化：将计算量较少的子查询顺序靠前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7BA855D-7240-60CD-E40C-326E694326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6665" y="2224691"/>
            <a:ext cx="8567956" cy="45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0260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499FF-0656-483E-FA76-D23C8DA7C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311AB32-ABCE-067E-FCE4-465AC5D675A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225663" y="19678"/>
            <a:ext cx="6078908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-2.3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用例展示 优化前后对比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(3)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83C13B-C150-0C09-BE83-C1C456783A2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719919"/>
            <a:ext cx="1147625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COUNT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优化：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1.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简化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COUNT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内的内容；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2.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为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COUNT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结果增加别名。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C8C1BD-020F-1FDE-14A3-275F83590B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90490"/>
            <a:ext cx="12192000" cy="16862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E34076E-6CFC-C752-E89E-5C8800FD66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197942"/>
            <a:ext cx="12192000" cy="233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499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BE68C-C500-44EC-A688-2902BCB1D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94B1931-FFA1-CC55-9B40-730D9D94A0E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225663" y="19678"/>
            <a:ext cx="5649303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-2.3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用例展示 反馈修正模块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855DE40-3660-49E2-ACA7-7737907D48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5" b="17798"/>
          <a:stretch/>
        </p:blipFill>
        <p:spPr>
          <a:xfrm>
            <a:off x="232095" y="939567"/>
            <a:ext cx="11727809" cy="591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266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76BC8F-06ED-35EE-7D2B-6DD5E23A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39EF684-962B-8A9F-2DDA-146B855842A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225663" y="19678"/>
            <a:ext cx="5957080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-2.3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用例展示 命令行交互页面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8F72789-2A7B-7F37-3268-8CC3677FC8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20" y="2305791"/>
            <a:ext cx="11308360" cy="439701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4317655-AB5E-B94F-D35E-5B2637427DA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4649" y="1627640"/>
            <a:ext cx="11881608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可直接在命令行中输入自然语言查询，得到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语句，方便无图形化界面的用户使用。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348572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C5BA7B-D3C2-036A-78E9-2D4300ACE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FE5E47B-B364-B730-FA62-D2ABBE51F95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225663" y="19678"/>
            <a:ext cx="5033750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系统功能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-2.3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用例展示 测试模式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7832BC-64E5-5F25-CDCD-C37D611001D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5196" y="1292081"/>
            <a:ext cx="11881608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测试模式采用多线程进行测试，控制在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10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分钟左右完成测试，生成两个结果文件，分别为</a:t>
            </a:r>
            <a:r>
              <a:rPr lang="en-US" altLang="zh-CN" sz="2400" dirty="0" err="1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result.json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及</a:t>
            </a:r>
            <a:r>
              <a:rPr lang="en-US" altLang="zh-CN" sz="2400" dirty="0" err="1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result_withNL.json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。前者符合赛项最终提交结果的格式，仅有检索的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BE_ID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及生成的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语句，后者带有详细对比信息，方便查看及评估，如下图所示：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17F1985-3E05-2896-E847-BD16A406CB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250" y="3077915"/>
            <a:ext cx="11023134" cy="371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653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079261-4BB6-3498-9A7E-AEC629C91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7C5F4A2-FD8C-987F-9436-B5EB140E260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08065" y="2568251"/>
            <a:ext cx="3175869" cy="1721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8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3 </a:t>
            </a:r>
            <a:r>
              <a:rPr lang="zh-CN" altLang="en-US" sz="8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26180752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7CBAFE-E66B-DA41-393E-B038A94938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440100" y="0"/>
            <a:ext cx="3095719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3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总结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-3.1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系统优势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0A1EFB-62DD-F5AB-41D5-008BE1CE2F6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5196" y="2030476"/>
            <a:ext cx="11881608" cy="3905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 dirty="0" err="1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BQLMatic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系统优势：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智能生成：高效将自然语言转化为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语句，显著降低开发门槛。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安全可靠：内置安全校验机制，有效防范潜在风险（如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SQL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注入）。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全链路支持：涵盖从安全审查到反馈修正的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语句生成全生命周期。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用户友好：提供命令行与浏览器页面两种交互方式，满足多样化需求。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零门槛部署：无需模型微调或复杂配置，即可快速搭建生成平台。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生态赋能：赋能低代码开发平台，提升开发效率和智能化水平。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7D8122-F3A9-B372-7435-DA55DB37F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38A39CC-71FD-61FE-E820-14BF187A8C7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440100" y="0"/>
            <a:ext cx="3711272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3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总结 </a:t>
            </a:r>
            <a:r>
              <a:rPr lang="en-US" altLang="zh-CN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-3.2 </a:t>
            </a:r>
            <a:r>
              <a:rPr lang="zh-CN" altLang="en-US" sz="24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未来优化方向</a:t>
            </a:r>
            <a:endParaRPr lang="zh-CN" altLang="en-US" sz="2400" b="1" dirty="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346534C-ECAB-D5C4-9428-ACDAE699228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5196" y="2409094"/>
            <a:ext cx="11881608" cy="279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 dirty="0" err="1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BQLMatic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系统未来优化方向：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上下文理解：增强对复杂多轮对话和上下文的理解机制，提升交互智能化水平。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行业适配：针对不同行业场景优化生成策略，提供更贴合业务需求的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语句。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生态拓展：构建插件化生态，支持与其他平台及工具的无缝对接。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          - 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可靠性增强：开发</a:t>
            </a:r>
            <a:r>
              <a:rPr lang="en-US" altLang="zh-CN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BQL</a:t>
            </a:r>
            <a:r>
              <a:rPr lang="zh-CN" altLang="en-US" sz="2400" dirty="0">
                <a:latin typeface="思源黑体 CN Normal" panose="020B0500000000000000" charset="-122"/>
                <a:ea typeface="思源黑体 CN Normal" panose="020B0500000000000000" charset="-122"/>
                <a:cs typeface="思源黑体 CN Normal" panose="020B0500000000000000" charset="-122"/>
                <a:sym typeface="+mn-ea"/>
              </a:rPr>
              <a:t>语句生成验证一体化工具，增加验证环节，确保可靠性。</a:t>
            </a:r>
            <a:endParaRPr lang="en-US" altLang="zh-CN" sz="2400" dirty="0"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78224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818983" y="2774558"/>
            <a:ext cx="2554034" cy="1308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感谢您的观看</a:t>
            </a:r>
            <a:endParaRPr lang="zh-CN" sz="2800" b="1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思源黑体 CN Normal" panose="020B0500000000000000" charset="-122"/>
                <a:ea typeface="思源黑体 CN Bold" panose="020B0800000000000000" charset="-122"/>
                <a:cs typeface="思源黑体 CN Normal" panose="020B0500000000000000" charset="-122"/>
                <a:sym typeface="+mn-ea"/>
              </a:rPr>
              <a:t>THANK YOU!</a:t>
            </a:r>
            <a:endParaRPr lang="zh-CN" altLang="en-US" sz="2800" b="1" dirty="0">
              <a:solidFill>
                <a:schemeClr val="bg1"/>
              </a:solidFill>
              <a:latin typeface="思源黑体 CN Normal" panose="020B0500000000000000" charset="-122"/>
              <a:ea typeface="思源黑体 CN Normal" panose="020B0500000000000000" charset="-122"/>
              <a:cs typeface="思源黑体 CN Normal" panose="020B0500000000000000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k1NmY3MWYwMTg5ZDQ5NTVkZTFmOGYzMjY5NjE1Mm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</TotalTime>
  <Words>1550</Words>
  <Application>Microsoft Office PowerPoint</Application>
  <PresentationFormat>宽屏</PresentationFormat>
  <Paragraphs>141</Paragraphs>
  <Slides>34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0" baseType="lpstr">
      <vt:lpstr>思源黑体 CN Bold</vt:lpstr>
      <vt:lpstr>思源黑体 CN Normal</vt:lpstr>
      <vt:lpstr>宋体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YinZiQi</cp:lastModifiedBy>
  <cp:revision>34</cp:revision>
  <dcterms:created xsi:type="dcterms:W3CDTF">2023-12-07T02:27:00Z</dcterms:created>
  <dcterms:modified xsi:type="dcterms:W3CDTF">2026-02-02T05:39:41Z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2052-12.1.0.16388</vt:lpwstr>
  </property>
  <property fmtid="{D5CDD505-2E9C-101B-9397-08002B2CF9AE}" pid="3" name="ICV">
    <vt:lpwstr>FFF72F6787E384D59D2D71658FBEE279_43</vt:lpwstr>
  </property>
</Properties>
</file>